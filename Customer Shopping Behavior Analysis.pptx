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Inter Light"/>
      <p:regular r:id="rId19"/>
      <p:bold r:id="rId20"/>
      <p:italic r:id="rId21"/>
      <p:boldItalic r:id="rId22"/>
    </p:embeddedFont>
    <p:embeddedFont>
      <p:font typeface="Inter SemiBold"/>
      <p:regular r:id="rId23"/>
      <p:bold r:id="rId24"/>
      <p:italic r:id="rId25"/>
      <p:boldItalic r:id="rId26"/>
    </p:embeddedFont>
    <p:embeddedFont>
      <p:font typeface="Inter"/>
      <p:regular r:id="rId27"/>
      <p:bold r:id="rId28"/>
      <p:italic r:id="rId29"/>
      <p:boldItalic r:id="rId30"/>
    </p:embeddedFont>
    <p:embeddedFont>
      <p:font typeface="Merriweather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41C6A65-C98E-47FA-8D2B-6BBCA94B6848}">
  <a:tblStyle styleId="{E41C6A65-C98E-47FA-8D2B-6BBCA94B684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Light-bold.fntdata"/><Relationship Id="rId22" Type="http://schemas.openxmlformats.org/officeDocument/2006/relationships/font" Target="fonts/InterLight-boldItalic.fntdata"/><Relationship Id="rId21" Type="http://schemas.openxmlformats.org/officeDocument/2006/relationships/font" Target="fonts/InterLight-italic.fntdata"/><Relationship Id="rId24" Type="http://schemas.openxmlformats.org/officeDocument/2006/relationships/font" Target="fonts/InterSemiBold-bold.fntdata"/><Relationship Id="rId23" Type="http://schemas.openxmlformats.org/officeDocument/2006/relationships/font" Target="fonts/InterSemiBold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SemiBold-boldItalic.fntdata"/><Relationship Id="rId25" Type="http://schemas.openxmlformats.org/officeDocument/2006/relationships/font" Target="fonts/InterSemiBold-italic.fntdata"/><Relationship Id="rId28" Type="http://schemas.openxmlformats.org/officeDocument/2006/relationships/font" Target="fonts/Inter-bold.fntdata"/><Relationship Id="rId27" Type="http://schemas.openxmlformats.org/officeDocument/2006/relationships/font" Target="fonts/Inter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Merriweather-regular.fntdata"/><Relationship Id="rId30" Type="http://schemas.openxmlformats.org/officeDocument/2006/relationships/font" Target="fonts/Inter-boldItalic.fntdata"/><Relationship Id="rId11" Type="http://schemas.openxmlformats.org/officeDocument/2006/relationships/slide" Target="slides/slide5.xml"/><Relationship Id="rId33" Type="http://schemas.openxmlformats.org/officeDocument/2006/relationships/font" Target="fonts/Merriweather-italic.fntdata"/><Relationship Id="rId10" Type="http://schemas.openxmlformats.org/officeDocument/2006/relationships/slide" Target="slides/slide4.xml"/><Relationship Id="rId32" Type="http://schemas.openxmlformats.org/officeDocument/2006/relationships/font" Target="fonts/Merriweather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schemas.openxmlformats.org/officeDocument/2006/relationships/font" Target="fonts/Merriweather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InterLight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ae24a16484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g3ae24a16484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13.png"/><Relationship Id="rId5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9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image" Target="../media/image1.png"/><Relationship Id="rId7" Type="http://schemas.openxmlformats.org/officeDocument/2006/relationships/image" Target="../media/image24.png"/><Relationship Id="rId8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9" Type="http://schemas.openxmlformats.org/officeDocument/2006/relationships/image" Target="../media/image23.png"/><Relationship Id="rId5" Type="http://schemas.openxmlformats.org/officeDocument/2006/relationships/image" Target="../media/image11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19.png"/><Relationship Id="rId5" Type="http://schemas.openxmlformats.org/officeDocument/2006/relationships/image" Target="../media/image18.png"/><Relationship Id="rId6" Type="http://schemas.openxmlformats.org/officeDocument/2006/relationships/image" Target="../media/image28.png"/><Relationship Id="rId7" Type="http://schemas.openxmlformats.org/officeDocument/2006/relationships/image" Target="../media/image2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27.png"/><Relationship Id="rId5" Type="http://schemas.openxmlformats.org/officeDocument/2006/relationships/image" Target="../media/image2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20.png"/><Relationship Id="rId5" Type="http://schemas.openxmlformats.org/officeDocument/2006/relationships/image" Target="../media/image2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238250" y="2032694"/>
            <a:ext cx="10382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 Light"/>
                <a:ea typeface="Inter Light"/>
                <a:cs typeface="Inter Light"/>
                <a:sym typeface="Inter Light"/>
              </a:rPr>
              <a:t>PROJECT </a:t>
            </a:r>
            <a:r>
              <a:rPr lang="en-US" sz="1800">
                <a:solidFill>
                  <a:srgbClr val="94A3B8"/>
                </a:solidFill>
                <a:latin typeface="Inter Light"/>
                <a:ea typeface="Inter Light"/>
                <a:cs typeface="Inter Light"/>
                <a:sym typeface="Inter Light"/>
              </a:rPr>
              <a:t>PRESENTATION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238250" y="2398365"/>
            <a:ext cx="10901362" cy="1340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8FAFC"/>
                </a:solidFill>
                <a:latin typeface="Merriweather"/>
                <a:ea typeface="Merriweather"/>
                <a:cs typeface="Merriweather"/>
                <a:sym typeface="Merriweather"/>
              </a:rPr>
              <a:t>Customer Shopping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800" u="none" cap="none" strike="noStrike">
                <a:solidFill>
                  <a:srgbClr val="F8FAFC"/>
                </a:solidFill>
                <a:latin typeface="Merriweather"/>
                <a:ea typeface="Merriweather"/>
                <a:cs typeface="Merriweather"/>
                <a:sym typeface="Merriweather"/>
              </a:rPr>
              <a:t> Behavior Analysis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428750" y="4215556"/>
            <a:ext cx="10191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Insights into spending patterns, customer segments,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and strategic opportunities.</a:t>
            </a:r>
            <a:endParaRPr/>
          </a:p>
        </p:txBody>
      </p:sp>
      <p:sp>
        <p:nvSpPr>
          <p:cNvPr id="88" name="Google Shape;88;p13"/>
          <p:cNvSpPr/>
          <p:nvPr/>
        </p:nvSpPr>
        <p:spPr>
          <a:xfrm>
            <a:off x="1238250" y="4215556"/>
            <a:ext cx="28575" cy="6096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647825"/>
            <a:ext cx="5238750" cy="463867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571500" y="2471737"/>
            <a:ext cx="550068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BAE6FD"/>
                </a:solidFill>
                <a:latin typeface="Merriweather"/>
                <a:ea typeface="Merriweather"/>
                <a:cs typeface="Merriweather"/>
                <a:sym typeface="Merriweather"/>
              </a:rPr>
              <a:t>Objective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571500" y="2957512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This project analyzes transactional data to uncover insights into spending patterns, customer segments, product preferences, and subscription behavior.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571500" y="4062412"/>
            <a:ext cx="550068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BAE6FD"/>
                </a:solidFill>
                <a:latin typeface="Merriweather"/>
                <a:ea typeface="Merriweather"/>
                <a:cs typeface="Merriweather"/>
                <a:sym typeface="Merriweather"/>
              </a:rPr>
              <a:t>Dataset Scope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571500" y="4548187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analysis is based on a robust dataset comprising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3,900 purchases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across various product categories, enabling data-driven strategic business decisions.</a:t>
            </a:r>
            <a:endParaRPr/>
          </a:p>
        </p:txBody>
      </p:sp>
      <p:pic>
        <p:nvPicPr>
          <p:cNvPr descr="image.png" id="99" name="Google Shape;9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647825"/>
            <a:ext cx="5238750" cy="463867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38BDF8"/>
                </a:solidFill>
                <a:latin typeface="Merriweather"/>
                <a:ea typeface="Merriweather"/>
                <a:cs typeface="Merriweather"/>
                <a:sym typeface="Merriweather"/>
              </a:rPr>
              <a:t>Project Overview</a:t>
            </a:r>
            <a:endParaRPr/>
          </a:p>
        </p:txBody>
      </p:sp>
      <p:sp>
        <p:nvSpPr>
          <p:cNvPr id="101" name="Google Shape;101;p14"/>
          <p:cNvSpPr/>
          <p:nvPr/>
        </p:nvSpPr>
        <p:spPr>
          <a:xfrm>
            <a:off x="571500" y="1257300"/>
            <a:ext cx="11049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6" name="Google Shape;10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 txBox="1"/>
          <p:nvPr/>
        </p:nvSpPr>
        <p:spPr>
          <a:xfrm>
            <a:off x="571500" y="485775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Key features include Demographics (Age, Gender, Location) and Purchase Details (Item, Amount, Season).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571500" y="2771775"/>
            <a:ext cx="33654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3.9K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571500" y="4010025"/>
            <a:ext cx="3365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TOTAL ROWS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4413200" y="2771775"/>
            <a:ext cx="33654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18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4413200" y="4010025"/>
            <a:ext cx="3365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FEATURES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8254900" y="2771775"/>
            <a:ext cx="33654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37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8254900" y="4010025"/>
            <a:ext cx="3365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MISSING RATINGS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38BDF8"/>
                </a:solidFill>
                <a:latin typeface="Merriweather"/>
                <a:ea typeface="Merriweather"/>
                <a:cs typeface="Merriweather"/>
                <a:sym typeface="Merriweather"/>
              </a:rPr>
              <a:t>Dataset Summary</a:t>
            </a:r>
            <a:endParaRPr/>
          </a:p>
        </p:txBody>
      </p:sp>
      <p:sp>
        <p:nvSpPr>
          <p:cNvPr id="115" name="Google Shape;115;p15"/>
          <p:cNvSpPr/>
          <p:nvPr/>
        </p:nvSpPr>
        <p:spPr>
          <a:xfrm>
            <a:off x="571500" y="1257300"/>
            <a:ext cx="11049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0" name="Google Shape;12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 txBox="1"/>
          <p:nvPr/>
        </p:nvSpPr>
        <p:spPr>
          <a:xfrm>
            <a:off x="571500" y="5015805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Missing values in Review Ratings were imputed using median category ratings.</a:t>
            </a:r>
            <a:endParaRPr/>
          </a:p>
        </p:txBody>
      </p:sp>
      <p:sp>
        <p:nvSpPr>
          <p:cNvPr id="122" name="Google Shape;122;p16"/>
          <p:cNvSpPr/>
          <p:nvPr/>
        </p:nvSpPr>
        <p:spPr>
          <a:xfrm>
            <a:off x="571500" y="3185219"/>
            <a:ext cx="11049000" cy="1905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3" name="Google Shape;12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22450" y="2994719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 txBox="1"/>
          <p:nvPr/>
        </p:nvSpPr>
        <p:spPr>
          <a:xfrm>
            <a:off x="479423" y="3566219"/>
            <a:ext cx="386720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BAE6FD"/>
                </a:solidFill>
                <a:latin typeface="Merriweather"/>
                <a:ea typeface="Merriweather"/>
                <a:cs typeface="Merriweather"/>
                <a:sym typeface="Merriweather"/>
              </a:rPr>
              <a:t>Python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571500" y="4051994"/>
            <a:ext cx="3683049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Data Cleaning &amp;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Feature Engineering</a:t>
            </a:r>
            <a:endParaRPr/>
          </a:p>
        </p:txBody>
      </p:sp>
      <p:pic>
        <p:nvPicPr>
          <p:cNvPr descr="image.png" id="126" name="Google Shape;12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05500" y="2994719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4162473" y="3566219"/>
            <a:ext cx="386720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BAE6FD"/>
                </a:solidFill>
                <a:latin typeface="Merriweather"/>
                <a:ea typeface="Merriweather"/>
                <a:cs typeface="Merriweather"/>
                <a:sym typeface="Merriweather"/>
              </a:rPr>
              <a:t>PostgreSQL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4254549" y="4051994"/>
            <a:ext cx="3683049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Structured Business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Transactions Analysis</a:t>
            </a:r>
            <a:endParaRPr/>
          </a:p>
        </p:txBody>
      </p:sp>
      <p:pic>
        <p:nvPicPr>
          <p:cNvPr descr="image.png" id="129" name="Google Shape;129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88549" y="2994719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7845522" y="3566219"/>
            <a:ext cx="386720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BAE6FD"/>
                </a:solidFill>
                <a:latin typeface="Merriweather"/>
                <a:ea typeface="Merriweather"/>
                <a:cs typeface="Merriweather"/>
                <a:sym typeface="Merriweather"/>
              </a:rPr>
              <a:t>Power BI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7937599" y="4051994"/>
            <a:ext cx="3683049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Interactive Dashboard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Development</a:t>
            </a:r>
            <a:endParaRPr/>
          </a:p>
        </p:txBody>
      </p:sp>
      <p:pic>
        <p:nvPicPr>
          <p:cNvPr descr="image.png" id="132" name="Google Shape;132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346275" y="3109019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029325" y="3109019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712374" y="3109019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38BDF8"/>
                </a:solidFill>
                <a:latin typeface="Merriweather"/>
                <a:ea typeface="Merriweather"/>
                <a:cs typeface="Merriweather"/>
                <a:sym typeface="Merriweather"/>
              </a:rPr>
              <a:t>Methodology &amp; Tech Stack</a:t>
            </a:r>
            <a:endParaRPr/>
          </a:p>
        </p:txBody>
      </p:sp>
      <p:sp>
        <p:nvSpPr>
          <p:cNvPr id="136" name="Google Shape;136;p16"/>
          <p:cNvSpPr/>
          <p:nvPr/>
        </p:nvSpPr>
        <p:spPr>
          <a:xfrm>
            <a:off x="571500" y="1257300"/>
            <a:ext cx="11049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1" name="Google Shape;14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47825"/>
            <a:ext cx="11049000" cy="4638675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7"/>
          <p:cNvSpPr txBox="1"/>
          <p:nvPr/>
        </p:nvSpPr>
        <p:spPr>
          <a:xfrm>
            <a:off x="571500" y="4972050"/>
            <a:ext cx="11049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Key Insight: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Young Adults are the highest revenue contributors, suggesting a need for targeted marketing strategies for this demographic.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38BDF8"/>
                </a:solidFill>
                <a:latin typeface="Merriweather"/>
                <a:ea typeface="Merriweather"/>
                <a:cs typeface="Merriweather"/>
                <a:sym typeface="Merriweather"/>
              </a:rPr>
              <a:t>Revenue by Age Group</a:t>
            </a:r>
            <a:endParaRPr/>
          </a:p>
        </p:txBody>
      </p:sp>
      <p:sp>
        <p:nvSpPr>
          <p:cNvPr id="145" name="Google Shape;145;p17"/>
          <p:cNvSpPr/>
          <p:nvPr/>
        </p:nvSpPr>
        <p:spPr>
          <a:xfrm>
            <a:off x="571500" y="1257300"/>
            <a:ext cx="11049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0" name="Google Shape;15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1" name="Google Shape;151;p18"/>
          <p:cNvGraphicFramePr/>
          <p:nvPr/>
        </p:nvGraphicFramePr>
        <p:xfrm>
          <a:off x="571500" y="203924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{E41C6A65-C98E-47FA-8D2B-6BBCA94B6848}</a:tableStyleId>
              </a:tblPr>
              <a:tblGrid>
                <a:gridCol w="2833975"/>
                <a:gridCol w="2798125"/>
                <a:gridCol w="2815975"/>
                <a:gridCol w="2600925"/>
              </a:tblGrid>
              <a:tr h="69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FFFFF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Category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FFFFF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Top Product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FFFFF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Total Orders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FFFFF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Avg Rating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</a:tr>
              <a:tr h="69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Accessories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8BDF8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Jewelry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171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3.75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69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Clothing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8BDF8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Blouse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171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3.80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69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Footwear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8BDF8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Sandals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160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3.84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69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Outerwear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8BDF8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Jacket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163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3.70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</a:tbl>
          </a:graphicData>
        </a:graphic>
      </p:graphicFrame>
      <p:sp>
        <p:nvSpPr>
          <p:cNvPr id="152" name="Google Shape;152;p18"/>
          <p:cNvSpPr txBox="1"/>
          <p:nvPr/>
        </p:nvSpPr>
        <p:spPr>
          <a:xfrm>
            <a:off x="571500" y="5811142"/>
            <a:ext cx="11049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Items like </a:t>
            </a: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Gloves, Sandals, and Boots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consistently receive the highest review ratings across all categories.</a:t>
            </a:r>
            <a:endParaRPr/>
          </a:p>
        </p:txBody>
      </p:sp>
      <p:sp>
        <p:nvSpPr>
          <p:cNvPr id="153" name="Google Shape;153;p18"/>
          <p:cNvSpPr/>
          <p:nvPr/>
        </p:nvSpPr>
        <p:spPr>
          <a:xfrm>
            <a:off x="571500" y="2710755"/>
            <a:ext cx="2833985" cy="285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8"/>
          <p:cNvSpPr/>
          <p:nvPr/>
        </p:nvSpPr>
        <p:spPr>
          <a:xfrm>
            <a:off x="3405485" y="2710755"/>
            <a:ext cx="2798117" cy="285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8"/>
          <p:cNvSpPr/>
          <p:nvPr/>
        </p:nvSpPr>
        <p:spPr>
          <a:xfrm>
            <a:off x="6203602" y="2710755"/>
            <a:ext cx="2815976" cy="285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8"/>
          <p:cNvSpPr/>
          <p:nvPr/>
        </p:nvSpPr>
        <p:spPr>
          <a:xfrm>
            <a:off x="9019579" y="2710755"/>
            <a:ext cx="2600920" cy="285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8"/>
          <p:cNvSpPr/>
          <p:nvPr/>
        </p:nvSpPr>
        <p:spPr>
          <a:xfrm>
            <a:off x="571500" y="3434655"/>
            <a:ext cx="2833985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8"/>
          <p:cNvSpPr/>
          <p:nvPr/>
        </p:nvSpPr>
        <p:spPr>
          <a:xfrm>
            <a:off x="3405485" y="3434655"/>
            <a:ext cx="2798117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8"/>
          <p:cNvSpPr/>
          <p:nvPr/>
        </p:nvSpPr>
        <p:spPr>
          <a:xfrm>
            <a:off x="6203602" y="3434655"/>
            <a:ext cx="2815976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8"/>
          <p:cNvSpPr/>
          <p:nvPr/>
        </p:nvSpPr>
        <p:spPr>
          <a:xfrm>
            <a:off x="9019579" y="3434655"/>
            <a:ext cx="2600920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8"/>
          <p:cNvSpPr/>
          <p:nvPr/>
        </p:nvSpPr>
        <p:spPr>
          <a:xfrm>
            <a:off x="571500" y="4129980"/>
            <a:ext cx="2833985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8"/>
          <p:cNvSpPr/>
          <p:nvPr/>
        </p:nvSpPr>
        <p:spPr>
          <a:xfrm>
            <a:off x="3405485" y="4129980"/>
            <a:ext cx="2798117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8"/>
          <p:cNvSpPr/>
          <p:nvPr/>
        </p:nvSpPr>
        <p:spPr>
          <a:xfrm>
            <a:off x="6203602" y="4129980"/>
            <a:ext cx="2815976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/>
          <p:cNvSpPr/>
          <p:nvPr/>
        </p:nvSpPr>
        <p:spPr>
          <a:xfrm>
            <a:off x="9019579" y="4129980"/>
            <a:ext cx="2600920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8"/>
          <p:cNvSpPr/>
          <p:nvPr/>
        </p:nvSpPr>
        <p:spPr>
          <a:xfrm>
            <a:off x="571500" y="4825305"/>
            <a:ext cx="2833985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8"/>
          <p:cNvSpPr/>
          <p:nvPr/>
        </p:nvSpPr>
        <p:spPr>
          <a:xfrm>
            <a:off x="3405485" y="4825305"/>
            <a:ext cx="2798117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/>
          <p:nvPr/>
        </p:nvSpPr>
        <p:spPr>
          <a:xfrm>
            <a:off x="6203602" y="4825305"/>
            <a:ext cx="2815976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/>
          <p:cNvSpPr/>
          <p:nvPr/>
        </p:nvSpPr>
        <p:spPr>
          <a:xfrm>
            <a:off x="9019579" y="4825305"/>
            <a:ext cx="2600920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38BDF8"/>
                </a:solidFill>
                <a:latin typeface="Merriweather"/>
                <a:ea typeface="Merriweather"/>
                <a:cs typeface="Merriweather"/>
                <a:sym typeface="Merriweather"/>
              </a:rPr>
              <a:t>Top Performing Products</a:t>
            </a:r>
            <a:endParaRPr/>
          </a:p>
        </p:txBody>
      </p:sp>
      <p:sp>
        <p:nvSpPr>
          <p:cNvPr id="170" name="Google Shape;170;p18"/>
          <p:cNvSpPr/>
          <p:nvPr/>
        </p:nvSpPr>
        <p:spPr>
          <a:xfrm>
            <a:off x="571500" y="1257300"/>
            <a:ext cx="11049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5" name="Google Shape;17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90800" y="1647825"/>
            <a:ext cx="381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9"/>
          <p:cNvSpPr txBox="1"/>
          <p:nvPr/>
        </p:nvSpPr>
        <p:spPr>
          <a:xfrm>
            <a:off x="571500" y="5838825"/>
            <a:ext cx="11049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While subscribers account for only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27%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of the customer base, repeat buyers (5+ purchases) are significantly more likely to subscribe.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7058025" y="316230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7500375" y="3133725"/>
            <a:ext cx="2438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Subscribers (27%)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7058025" y="360997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7500375" y="3581400"/>
            <a:ext cx="2438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Non-Subscribers (73%)</a:t>
            </a:r>
            <a:endParaRPr/>
          </a:p>
        </p:txBody>
      </p:sp>
      <p:sp>
        <p:nvSpPr>
          <p:cNvPr id="182" name="Google Shape;182;p19"/>
          <p:cNvSpPr/>
          <p:nvPr/>
        </p:nvSpPr>
        <p:spPr>
          <a:xfrm>
            <a:off x="7162800" y="3162300"/>
            <a:ext cx="190500" cy="190500"/>
          </a:xfrm>
          <a:prstGeom prst="roundRect">
            <a:avLst>
              <a:gd fmla="val 20000" name="adj"/>
            </a:avLst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9"/>
          <p:cNvSpPr/>
          <p:nvPr/>
        </p:nvSpPr>
        <p:spPr>
          <a:xfrm>
            <a:off x="7162800" y="3609975"/>
            <a:ext cx="190500" cy="190500"/>
          </a:xfrm>
          <a:prstGeom prst="roundRect">
            <a:avLst>
              <a:gd fmla="val 20000" name="adj"/>
            </a:avLst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9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38BDF8"/>
                </a:solidFill>
                <a:latin typeface="Merriweather"/>
                <a:ea typeface="Merriweather"/>
                <a:cs typeface="Merriweather"/>
                <a:sym typeface="Merriweather"/>
              </a:rPr>
              <a:t>Subscription Status Analysis</a:t>
            </a:r>
            <a:endParaRPr/>
          </a:p>
        </p:txBody>
      </p:sp>
      <p:sp>
        <p:nvSpPr>
          <p:cNvPr id="185" name="Google Shape;185;p19"/>
          <p:cNvSpPr/>
          <p:nvPr/>
        </p:nvSpPr>
        <p:spPr>
          <a:xfrm>
            <a:off x="571500" y="1257300"/>
            <a:ext cx="11049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0" name="Google Shape;19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04182"/>
            <a:ext cx="3492549" cy="29259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504182"/>
            <a:ext cx="3492549" cy="29259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504182"/>
            <a:ext cx="3492549" cy="292596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0"/>
          <p:cNvSpPr txBox="1"/>
          <p:nvPr/>
        </p:nvSpPr>
        <p:spPr>
          <a:xfrm>
            <a:off x="884236" y="3675757"/>
            <a:ext cx="286707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BAE6FD"/>
                </a:solidFill>
                <a:latin typeface="Merriweather"/>
                <a:ea typeface="Merriweather"/>
                <a:cs typeface="Merriweather"/>
                <a:sym typeface="Merriweather"/>
              </a:rPr>
              <a:t>Loyal</a:t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952500" y="4161532"/>
            <a:ext cx="2730549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3,116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Customers</a:t>
            </a:r>
            <a:endParaRPr/>
          </a:p>
        </p:txBody>
      </p:sp>
      <p:sp>
        <p:nvSpPr>
          <p:cNvPr id="196" name="Google Shape;196;p20"/>
          <p:cNvSpPr txBox="1"/>
          <p:nvPr/>
        </p:nvSpPr>
        <p:spPr>
          <a:xfrm>
            <a:off x="952500" y="4561582"/>
            <a:ext cx="2730549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core of our revenue, demonstrating high retention.</a:t>
            </a:r>
            <a:endParaRPr/>
          </a:p>
        </p:txBody>
      </p:sp>
      <p:sp>
        <p:nvSpPr>
          <p:cNvPr id="197" name="Google Shape;197;p20"/>
          <p:cNvSpPr txBox="1"/>
          <p:nvPr/>
        </p:nvSpPr>
        <p:spPr>
          <a:xfrm>
            <a:off x="4662535" y="3675757"/>
            <a:ext cx="286707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BAE6FD"/>
                </a:solidFill>
                <a:latin typeface="Merriweather"/>
                <a:ea typeface="Merriweather"/>
                <a:cs typeface="Merriweather"/>
                <a:sym typeface="Merriweather"/>
              </a:rPr>
              <a:t>Returning</a:t>
            </a:r>
            <a:endParaRPr/>
          </a:p>
        </p:txBody>
      </p:sp>
      <p:sp>
        <p:nvSpPr>
          <p:cNvPr id="198" name="Google Shape;198;p20"/>
          <p:cNvSpPr txBox="1"/>
          <p:nvPr/>
        </p:nvSpPr>
        <p:spPr>
          <a:xfrm>
            <a:off x="4730799" y="4161532"/>
            <a:ext cx="2730549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701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Customers</a:t>
            </a:r>
            <a:endParaRPr/>
          </a:p>
        </p:txBody>
      </p:sp>
      <p:sp>
        <p:nvSpPr>
          <p:cNvPr id="199" name="Google Shape;199;p20"/>
          <p:cNvSpPr txBox="1"/>
          <p:nvPr/>
        </p:nvSpPr>
        <p:spPr>
          <a:xfrm>
            <a:off x="4730799" y="4561582"/>
            <a:ext cx="2730549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Customers with potential to convert to the loyal segment.</a:t>
            </a:r>
            <a:endParaRPr/>
          </a:p>
        </p:txBody>
      </p:sp>
      <p:sp>
        <p:nvSpPr>
          <p:cNvPr id="200" name="Google Shape;200;p20"/>
          <p:cNvSpPr txBox="1"/>
          <p:nvPr/>
        </p:nvSpPr>
        <p:spPr>
          <a:xfrm>
            <a:off x="8440835" y="3675757"/>
            <a:ext cx="286707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BAE6FD"/>
                </a:solidFill>
                <a:latin typeface="Merriweather"/>
                <a:ea typeface="Merriweather"/>
                <a:cs typeface="Merriweather"/>
                <a:sym typeface="Merriweather"/>
              </a:rPr>
              <a:t>New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8509099" y="4161532"/>
            <a:ext cx="2730549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83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Customers</a:t>
            </a:r>
            <a:endParaRPr/>
          </a:p>
        </p:txBody>
      </p:sp>
      <p:sp>
        <p:nvSpPr>
          <p:cNvPr id="202" name="Google Shape;202;p20"/>
          <p:cNvSpPr txBox="1"/>
          <p:nvPr/>
        </p:nvSpPr>
        <p:spPr>
          <a:xfrm>
            <a:off x="8509099" y="4561582"/>
            <a:ext cx="2730549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Recent acquisitions requiring engagement strategies.</a:t>
            </a:r>
            <a:endParaRPr/>
          </a:p>
        </p:txBody>
      </p:sp>
      <p:pic>
        <p:nvPicPr>
          <p:cNvPr descr="image.png" id="203" name="Google Shape;203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60525" y="2970907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67400" y="297090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588549" y="2970907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0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38BDF8"/>
                </a:solidFill>
                <a:latin typeface="Merriweather"/>
                <a:ea typeface="Merriweather"/>
                <a:cs typeface="Merriweather"/>
                <a:sym typeface="Merriweather"/>
              </a:rPr>
              <a:t>Customer Segmentation</a:t>
            </a:r>
            <a:endParaRPr/>
          </a:p>
        </p:txBody>
      </p:sp>
      <p:sp>
        <p:nvSpPr>
          <p:cNvPr id="207" name="Google Shape;207;p20"/>
          <p:cNvSpPr/>
          <p:nvPr/>
        </p:nvSpPr>
        <p:spPr>
          <a:xfrm>
            <a:off x="571500" y="1257300"/>
            <a:ext cx="11049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2" name="Google Shape;21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43187"/>
            <a:ext cx="5238750" cy="2647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490787"/>
            <a:ext cx="5238750" cy="295275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1"/>
          <p:cNvSpPr txBox="1"/>
          <p:nvPr/>
        </p:nvSpPr>
        <p:spPr>
          <a:xfrm>
            <a:off x="952500" y="3062287"/>
            <a:ext cx="470058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048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BAE6FD"/>
                </a:solidFill>
                <a:latin typeface="Merriweather"/>
                <a:ea typeface="Merriweather"/>
                <a:cs typeface="Merriweather"/>
                <a:sym typeface="Merriweather"/>
              </a:rPr>
              <a:t>Review Consistency</a:t>
            </a:r>
            <a:endParaRPr/>
          </a:p>
        </p:txBody>
      </p:sp>
      <p:sp>
        <p:nvSpPr>
          <p:cNvPr id="216" name="Google Shape;216;p21"/>
          <p:cNvSpPr txBox="1"/>
          <p:nvPr/>
        </p:nvSpPr>
        <p:spPr>
          <a:xfrm>
            <a:off x="952500" y="3548062"/>
            <a:ext cx="4476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average review rating is stable at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3.75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217" name="Google Shape;217;p21"/>
          <p:cNvSpPr txBox="1"/>
          <p:nvPr/>
        </p:nvSpPr>
        <p:spPr>
          <a:xfrm>
            <a:off x="952500" y="3995737"/>
            <a:ext cx="4476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Top rated items include Gloves (3.86) and Sandals (3.84), indicating high satisfaction with accessories and footwear.</a:t>
            </a:r>
            <a:endParaRPr/>
          </a:p>
        </p:txBody>
      </p:sp>
      <p:sp>
        <p:nvSpPr>
          <p:cNvPr id="218" name="Google Shape;218;p21"/>
          <p:cNvSpPr txBox="1"/>
          <p:nvPr/>
        </p:nvSpPr>
        <p:spPr>
          <a:xfrm>
            <a:off x="6762750" y="2909887"/>
            <a:ext cx="470058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333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BAE6FD"/>
                </a:solidFill>
                <a:latin typeface="Merriweather"/>
                <a:ea typeface="Merriweather"/>
                <a:cs typeface="Merriweather"/>
                <a:sym typeface="Merriweather"/>
              </a:rPr>
              <a:t>Shipping Impact</a:t>
            </a:r>
            <a:endParaRPr/>
          </a:p>
        </p:txBody>
      </p:sp>
      <p:sp>
        <p:nvSpPr>
          <p:cNvPr id="219" name="Google Shape;219;p21"/>
          <p:cNvSpPr txBox="1"/>
          <p:nvPr/>
        </p:nvSpPr>
        <p:spPr>
          <a:xfrm>
            <a:off x="6762750" y="3395662"/>
            <a:ext cx="4476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Express Shipping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users spend slightly more ($60.48) on average compared to Standard Shipping users ($58.46).</a:t>
            </a:r>
            <a:endParaRPr/>
          </a:p>
        </p:txBody>
      </p:sp>
      <p:sp>
        <p:nvSpPr>
          <p:cNvPr id="220" name="Google Shape;220;p21"/>
          <p:cNvSpPr txBox="1"/>
          <p:nvPr/>
        </p:nvSpPr>
        <p:spPr>
          <a:xfrm>
            <a:off x="6762750" y="4452937"/>
            <a:ext cx="4476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This suggests an opportunity to bundle express shipping with higher-value tiers.</a:t>
            </a:r>
            <a:endParaRPr/>
          </a:p>
        </p:txBody>
      </p:sp>
      <p:pic>
        <p:nvPicPr>
          <p:cNvPr descr="image.png" id="221" name="Google Shape;221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500" y="3100387"/>
            <a:ext cx="3048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62750" y="2947987"/>
            <a:ext cx="3333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1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38BDF8"/>
                </a:solidFill>
                <a:latin typeface="Merriweather"/>
                <a:ea typeface="Merriweather"/>
                <a:cs typeface="Merriweather"/>
                <a:sym typeface="Merriweather"/>
              </a:rPr>
              <a:t>Operational Insights</a:t>
            </a:r>
            <a:endParaRPr/>
          </a:p>
        </p:txBody>
      </p:sp>
      <p:sp>
        <p:nvSpPr>
          <p:cNvPr id="224" name="Google Shape;224;p21"/>
          <p:cNvSpPr/>
          <p:nvPr/>
        </p:nvSpPr>
        <p:spPr>
          <a:xfrm>
            <a:off x="571500" y="1257300"/>
            <a:ext cx="11049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9" name="Google Shape;22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2"/>
          <p:cNvSpPr txBox="1"/>
          <p:nvPr/>
        </p:nvSpPr>
        <p:spPr>
          <a:xfrm>
            <a:off x="3714750" y="2946052"/>
            <a:ext cx="50006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Power BI Dashboard</a:t>
            </a:r>
            <a:endParaRPr/>
          </a:p>
        </p:txBody>
      </p:sp>
      <p:sp>
        <p:nvSpPr>
          <p:cNvPr id="232" name="Google Shape;232;p22"/>
          <p:cNvSpPr txBox="1"/>
          <p:nvPr/>
        </p:nvSpPr>
        <p:spPr>
          <a:xfrm>
            <a:off x="2695575" y="3546127"/>
            <a:ext cx="68008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Interactive visualization of demographics, revenue, and trends.</a:t>
            </a:r>
            <a:endParaRPr/>
          </a:p>
        </p:txBody>
      </p:sp>
      <p:pic>
        <p:nvPicPr>
          <p:cNvPr id="233" name="Google Shape;233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2963" y="436900"/>
            <a:ext cx="11206074" cy="6421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8" name="Google Shape;23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3"/>
          <p:cNvSpPr txBox="1"/>
          <p:nvPr/>
        </p:nvSpPr>
        <p:spPr>
          <a:xfrm>
            <a:off x="762000" y="762000"/>
            <a:ext cx="4800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38BDF8"/>
                </a:solidFill>
                <a:latin typeface="Merriweather"/>
                <a:ea typeface="Merriweather"/>
                <a:cs typeface="Merriweather"/>
                <a:sym typeface="Merriweather"/>
              </a:rPr>
              <a:t>Strategic Recommendations</a:t>
            </a:r>
            <a:endParaRPr/>
          </a:p>
        </p:txBody>
      </p:sp>
      <p:pic>
        <p:nvPicPr>
          <p:cNvPr descr="image.png" id="240" name="Google Shape;24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3"/>
          <p:cNvSpPr txBox="1"/>
          <p:nvPr/>
        </p:nvSpPr>
        <p:spPr>
          <a:xfrm>
            <a:off x="1047750" y="2324100"/>
            <a:ext cx="42862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Boost Subscriptions: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Promote exclusive benefits to convert the 73% non-subscriber base.</a:t>
            </a:r>
            <a:endParaRPr/>
          </a:p>
        </p:txBody>
      </p:sp>
      <p:sp>
        <p:nvSpPr>
          <p:cNvPr id="242" name="Google Shape;242;p23"/>
          <p:cNvSpPr txBox="1"/>
          <p:nvPr/>
        </p:nvSpPr>
        <p:spPr>
          <a:xfrm>
            <a:off x="1047750" y="3476625"/>
            <a:ext cx="42862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Loyalty Programs: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Reward repeat buyers to solidify the "Loyal" segment and reduce churn.</a:t>
            </a:r>
            <a:endParaRPr/>
          </a:p>
        </p:txBody>
      </p:sp>
      <p:sp>
        <p:nvSpPr>
          <p:cNvPr id="243" name="Google Shape;243;p23"/>
          <p:cNvSpPr txBox="1"/>
          <p:nvPr/>
        </p:nvSpPr>
        <p:spPr>
          <a:xfrm>
            <a:off x="1047750" y="4629150"/>
            <a:ext cx="42862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Targeted Marketing: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Focus ad spend on high-revenue "Young Adult" and "Middle-Aged" demographics.</a:t>
            </a:r>
            <a:endParaRPr/>
          </a:p>
        </p:txBody>
      </p:sp>
      <p:sp>
        <p:nvSpPr>
          <p:cNvPr id="244" name="Google Shape;244;p23"/>
          <p:cNvSpPr txBox="1"/>
          <p:nvPr/>
        </p:nvSpPr>
        <p:spPr>
          <a:xfrm>
            <a:off x="1047750" y="5781675"/>
            <a:ext cx="42862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Product Positioning: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Highlight top-rated products (e.g., Sandals, Gloves) in seasonal campaigns.</a:t>
            </a:r>
            <a:endParaRPr/>
          </a:p>
        </p:txBody>
      </p:sp>
      <p:pic>
        <p:nvPicPr>
          <p:cNvPr descr="image.png" id="245" name="Google Shape;245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23241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6" name="Google Shape;246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4766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7" name="Google Shape;247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46291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8" name="Google Shape;248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5781675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4"/>
          <p:cNvSpPr txBox="1"/>
          <p:nvPr/>
        </p:nvSpPr>
        <p:spPr>
          <a:xfrm>
            <a:off x="1238250" y="2032694"/>
            <a:ext cx="10382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4"/>
          <p:cNvSpPr txBox="1"/>
          <p:nvPr/>
        </p:nvSpPr>
        <p:spPr>
          <a:xfrm>
            <a:off x="3885525" y="2310415"/>
            <a:ext cx="10901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F8FAFC"/>
                </a:solidFill>
                <a:latin typeface="Merriweather"/>
                <a:ea typeface="Merriweather"/>
                <a:cs typeface="Merriweather"/>
                <a:sym typeface="Merriweather"/>
              </a:rPr>
              <a:t>Thank You</a:t>
            </a:r>
            <a:endParaRPr/>
          </a:p>
        </p:txBody>
      </p:sp>
      <p:sp>
        <p:nvSpPr>
          <p:cNvPr id="255" name="Google Shape;255;p24"/>
          <p:cNvSpPr txBox="1"/>
          <p:nvPr/>
        </p:nvSpPr>
        <p:spPr>
          <a:xfrm>
            <a:off x="1428750" y="4215556"/>
            <a:ext cx="10191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4"/>
          <p:cNvSpPr/>
          <p:nvPr/>
        </p:nvSpPr>
        <p:spPr>
          <a:xfrm>
            <a:off x="3441325" y="2375081"/>
            <a:ext cx="28500" cy="6096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